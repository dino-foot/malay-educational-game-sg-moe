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omments/modernComment_104_E8E8323F.xml" ContentType="application/vnd.ms-powerpoint.comments+xml"/>
  <Override PartName="/ppt/notesSlides/notesSlide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62" r:id="rId4"/>
    <p:sldId id="258" r:id="rId5"/>
    <p:sldId id="263" r:id="rId6"/>
    <p:sldId id="259" r:id="rId7"/>
    <p:sldId id="264" r:id="rId8"/>
    <p:sldId id="260" r:id="rId9"/>
    <p:sldId id="265" r:id="rId10"/>
    <p:sldId id="26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2C38F09-97DE-1C02-41DD-30EAC4A92844}" name="Noor Azimah MOHD HAAD (MOE)" initials="NM" userId="S::Noor_Azimah_MOHD_HAAD@moe.gov.sg::cb91b5bd-f87d-4619-9673-021dd92d5886" providerId="AD"/>
  <p188:author id="{AB968820-B940-4DBF-8B60-85ACFE401128}" name="Munirah MOHAMED (MOE)" initials="MM" userId="S::Munirah_MOHAMED@moe.gov.sg::9d1c28ff-9518-41ae-a04c-07eb6b7f8b44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2889"/>
    <p:restoredTop sz="94690"/>
  </p:normalViewPr>
  <p:slideViewPr>
    <p:cSldViewPr snapToGrid="0">
      <p:cViewPr varScale="1">
        <p:scale>
          <a:sx n="95" d="100"/>
          <a:sy n="95" d="100"/>
        </p:scale>
        <p:origin x="208" y="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8/10/relationships/authors" Target="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omments/modernComment_104_E8E8323F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13CCE30-5A15-4749-A647-656EB1A26942}" authorId="{12C38F09-97DE-1C02-41DD-30EAC4A92844}" created="2025-12-03T03:03:45.578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907531327" sldId="260"/>
      <ac:picMk id="4" creationId="{50D666C4-AB2C-3CC2-21B8-F83B42AE91DD}"/>
    </ac:deMkLst>
    <p188:replyLst>
      <p188:reply id="{C3EFF302-24E5-4654-8863-6C76E13B6172}" authorId="{12C38F09-97DE-1C02-41DD-30EAC4A92844}" created="2025-12-03T03:07:17.593">
        <p188:txBody>
          <a:bodyPr/>
          <a:lstStyle/>
          <a:p>
            <a:r>
              <a:rPr lang="ms-MY"/>
              <a:t>The meaning of the word: “TERBANG LALU…” should not be in upper caps. Use sentence cap.</a:t>
            </a:r>
          </a:p>
        </p188:txBody>
      </p188:reply>
      <p188:reply id="{0B50DD6A-F5E9-4E89-9F66-8984185B66DC}" authorId="{12C38F09-97DE-1C02-41DD-30EAC4A92844}" created="2025-12-03T03:08:17.985">
        <p188:txBody>
          <a:bodyPr/>
          <a:lstStyle/>
          <a:p>
            <a:r>
              <a:rPr lang="ms-MY"/>
              <a:t>During the game, the speed of the train can have variation. At the start slow but it gets faster as the students get more answers correct. </a:t>
            </a:r>
          </a:p>
        </p188:txBody>
      </p188:reply>
    </p188:replyLst>
    <p188:txBody>
      <a:bodyPr/>
      <a:lstStyle/>
      <a:p>
        <a:r>
          <a:rPr lang="ms-MY"/>
          <a:t>To be consistent. Use kereta api for all. Do not use tren.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1895F7-3580-BD40-9EF7-6FD2FD748EC8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2496ED-5921-3147-9EBA-9C3B55B70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1932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6" name="Google Shape;116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25609-3EE5-2B55-6D27-4340988DD8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3F3D49-6B86-13DD-850E-D8A81C0C9B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7C5D20-6F81-9D51-0B26-43E73D456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330F6-39B8-B344-95CE-E0AEF5C0A8C8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06854C-80E5-0A02-E7C4-9BA2F54E5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77D41B-21BA-A461-D212-F3C393019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7FDEA0-F069-6F4A-9DC6-CB09320B74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6796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05F11-ED08-F3D6-D4DE-25A40C15A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5F358F-726E-F103-F8AC-324F8E46DD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D4FBE8-8FA0-9631-4495-B9B70D203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330F6-39B8-B344-95CE-E0AEF5C0A8C8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B5D261-CAFC-8145-6CB5-F60B1C812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A1FDDB-FBD8-5331-B90A-ED4FD318B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7FDEA0-F069-6F4A-9DC6-CB09320B74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9514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69505-2E87-AF56-789E-B25E60E95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EDEA0C-38C5-86A6-7966-0CE8B9D967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A4DBE0-CF9C-C041-7D96-9489AE5F1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330F6-39B8-B344-95CE-E0AEF5C0A8C8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EA7DC9-9865-DF0D-01E2-E4D2B332F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3BBCFC-93CC-D59F-2B1F-43504B6B5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7FDEA0-F069-6F4A-9DC6-CB09320B74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2539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5F99E-18FA-6361-67D5-19028BDC2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831343-4A80-E33A-2481-DDE9AF78FC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F259CA-1859-D698-0C7A-984FB0DA92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B051BF-1C79-7C60-D26E-1C2DD728E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330F6-39B8-B344-95CE-E0AEF5C0A8C8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B4B944-C339-ACA2-6C11-7A9ED3F6B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BA6E3B-E768-2829-7125-231B257DC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7FDEA0-F069-6F4A-9DC6-CB09320B74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5915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A56FF-510B-DEC3-4213-18FF32ECF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C3785B-2B32-4105-2744-9EAB27468D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F94B01-D614-A63C-3BEB-5D078AA791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6DF9D6-EB67-A762-806B-2918888056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BA02417-5E17-7A50-746D-D740A8C34B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5EA5757-52F7-5D5B-D5B0-4141EF09AC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330F6-39B8-B344-95CE-E0AEF5C0A8C8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18A8347-B77B-37B8-D811-6DFC98CEC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992393-A8DE-2592-50C6-186E762F9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7FDEA0-F069-6F4A-9DC6-CB09320B74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737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637252-0A4E-36FE-E044-F7CBC81AC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698294-50AC-4E46-4D25-50FE9F7089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330F6-39B8-B344-95CE-E0AEF5C0A8C8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77BD7-FE5E-939E-9A3C-B734EDBD6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5071CD-C4C2-A52E-2A95-3408B84E8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7FDEA0-F069-6F4A-9DC6-CB09320B74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7136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588C3-339B-8634-D2A3-B7AA7EF1CE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330F6-39B8-B344-95CE-E0AEF5C0A8C8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BD8BB3-544D-2EA0-EFFE-28F7CC037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B74CC2-F1C2-978D-4250-4D7E11127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7FDEA0-F069-6F4A-9DC6-CB09320B74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2989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AF5DC-27EF-5AEB-1B64-D73B06AA31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4A4F17-5775-018E-842A-789852AD46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185668-68A9-F6AC-BA6B-D8A0BA3CBC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895F5D-D0F4-4FD1-312D-D73F808E8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330F6-39B8-B344-95CE-E0AEF5C0A8C8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66328-E7B4-AF4C-974B-29DB53741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C158F5-E9C6-77FA-E413-A42F22EE5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7FDEA0-F069-6F4A-9DC6-CB09320B74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4246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B75FD-C245-0C28-A0D9-5F424C462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57D346-69D3-055A-C3B2-CF4269E4A9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16BF25-B359-58D8-0EBE-BA17415326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014A0A-B766-9492-D9F8-1CAE85D8F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330F6-39B8-B344-95CE-E0AEF5C0A8C8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A6EEEA-DFA9-BC7E-EEBF-0306D283C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ECF34E-9315-1EA3-C69D-7027971A8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7FDEA0-F069-6F4A-9DC6-CB09320B74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3194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F32E4-9C07-8A94-16E3-677168C2E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747814-1C1A-DA8B-5246-CA5AF72169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9AC11E-2156-3E60-2AD2-D32C74254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330F6-39B8-B344-95CE-E0AEF5C0A8C8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4CCD58-0BEF-AF96-B75A-9D8A2C06D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FFFF47-0909-A46D-F14B-93B665A52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7FDEA0-F069-6F4A-9DC6-CB09320B74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9339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D9E9AD2-AF5E-0D79-70CE-AE3FA2DCE7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55A325-9D2A-8A2C-7E52-0841AA052C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9ED75-F732-A4FB-A975-E4FBB4684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330F6-39B8-B344-95CE-E0AEF5C0A8C8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6BC1AC-808E-9910-5A9C-BBFD40B15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1F21E3-C772-B632-8CDC-DD4966DB9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7FDEA0-F069-6F4A-9DC6-CB09320B74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4219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B1236C-9661-A844-8DC8-EF5C77C0BE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125958-AC5C-E9A5-3D2A-F18DE9B3D2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B167BE-9CB9-EDDE-7712-AEDC7C8A99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F330F6-39B8-B344-95CE-E0AEF5C0A8C8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03A68C-358C-4E5E-EC6A-D78B436AB8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F116AB-B027-E50B-F4A3-11F99D5687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7FDEA0-F069-6F4A-9DC6-CB09320B74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7614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microsoft.com/office/2018/10/relationships/comments" Target="../comments/modernComment_104_E8E8323F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5AB03-7A4B-18E1-14A7-8B369301720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Unit 2 Game Specification</a:t>
            </a:r>
          </a:p>
        </p:txBody>
      </p:sp>
    </p:spTree>
    <p:extLst>
      <p:ext uri="{BB962C8B-B14F-4D97-AF65-F5344CB8AC3E}">
        <p14:creationId xmlns:p14="http://schemas.microsoft.com/office/powerpoint/2010/main" val="27394001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2"/>
          <p:cNvSpPr txBox="1">
            <a:spLocks noGrp="1"/>
          </p:cNvSpPr>
          <p:nvPr>
            <p:ph type="title"/>
          </p:nvPr>
        </p:nvSpPr>
        <p:spPr>
          <a:xfrm>
            <a:off x="844684" y="0"/>
            <a:ext cx="5251316" cy="1807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Storyline</a:t>
            </a:r>
            <a:endParaRPr/>
          </a:p>
        </p:txBody>
      </p:sp>
      <p:sp>
        <p:nvSpPr>
          <p:cNvPr id="97" name="Google Shape;97;p2"/>
          <p:cNvSpPr txBox="1">
            <a:spLocks noGrp="1"/>
          </p:cNvSpPr>
          <p:nvPr>
            <p:ph type="body" idx="1"/>
          </p:nvPr>
        </p:nvSpPr>
        <p:spPr>
          <a:xfrm>
            <a:off x="844683" y="1583596"/>
            <a:ext cx="10656755" cy="4650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/>
              <a:t>Umar awakens on a magical journey that begins at the city bus stop and ends at Kampung Sirih, where Tanggang’s mother lives.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 dirty="0"/>
          </a:p>
          <a:p>
            <a:pPr marL="22860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/>
              <a:t>At each stage of the trip, Umar must </a:t>
            </a:r>
            <a:r>
              <a:rPr lang="en-US" sz="2400" dirty="0">
                <a:highlight>
                  <a:srgbClr val="FFFF00"/>
                </a:highlight>
              </a:rPr>
              <a:t>collect energy</a:t>
            </a:r>
            <a:r>
              <a:rPr lang="en-US" sz="2400" dirty="0"/>
              <a:t> (bar level on his watch), clues, and words to continue traveling — by bus, train, and kayak, before finally walking to the village.</a:t>
            </a:r>
            <a:endParaRPr dirty="0"/>
          </a:p>
          <a:p>
            <a:pPr marL="228600" lvl="0" indent="-762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 dirty="0"/>
          </a:p>
          <a:p>
            <a:pPr marL="22860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/>
              <a:t>Each stop presents a mini word-learning challenge tied to vocabulary and story context.</a:t>
            </a:r>
            <a:endParaRPr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3"/>
          <p:cNvSpPr txBox="1">
            <a:spLocks noGrp="1"/>
          </p:cNvSpPr>
          <p:nvPr>
            <p:ph type="title"/>
          </p:nvPr>
        </p:nvSpPr>
        <p:spPr>
          <a:xfrm>
            <a:off x="844684" y="0"/>
            <a:ext cx="5251316" cy="1807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Game Overview</a:t>
            </a:r>
            <a:endParaRPr/>
          </a:p>
        </p:txBody>
      </p:sp>
      <p:graphicFrame>
        <p:nvGraphicFramePr>
          <p:cNvPr id="104" name="Google Shape;104;p3"/>
          <p:cNvGraphicFramePr/>
          <p:nvPr>
            <p:extLst>
              <p:ext uri="{D42A27DB-BD31-4B8C-83A1-F6EECF244321}">
                <p14:modId xmlns:p14="http://schemas.microsoft.com/office/powerpoint/2010/main" val="434492641"/>
              </p:ext>
            </p:extLst>
          </p:nvPr>
        </p:nvGraphicFramePr>
        <p:xfrm>
          <a:off x="838200" y="1551709"/>
          <a:ext cx="10515625" cy="48158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103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031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1" u="none" strike="noStrike" cap="none"/>
                        <a:t>Level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C7ED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1" u="none" strike="noStrike" cap="none"/>
                        <a:t>Transport Mode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C7ED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1" u="none" strike="noStrike" cap="none"/>
                        <a:t>Scene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C7ED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1" u="none" strike="noStrike" cap="none"/>
                        <a:t>Gameplay Focus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C7ED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1" u="none" strike="noStrike" cap="none"/>
                        <a:t>Learning Outcome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C7E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66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0" u="none" strike="noStrike" cap="none"/>
                        <a:t>1. Bas Bertolak!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/>
                        <a:t>Bus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/>
                        <a:t>Urban start point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/>
                        <a:t>Picture/Meaning match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/>
                        <a:t>Recognize word meanings</a:t>
                      </a:r>
                      <a:endParaRPr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24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0" u="none" strike="noStrike" cap="none" dirty="0"/>
                        <a:t>2. Kuasa </a:t>
                      </a:r>
                      <a:r>
                        <a:rPr lang="en-US" sz="2000" dirty="0" err="1"/>
                        <a:t>Keretapi</a:t>
                      </a:r>
                      <a:endParaRPr dirty="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/>
                        <a:t>Train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/>
                        <a:t>Cross-island travel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/>
                        <a:t>Scrambled word formation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/>
                        <a:t>Reinforce spelling and visual recall</a:t>
                      </a:r>
                      <a:endParaRPr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24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0" u="none" strike="noStrike" cap="none" dirty="0"/>
                        <a:t>3. </a:t>
                      </a:r>
                      <a:r>
                        <a:rPr lang="en-US" sz="2000" b="0" u="none" strike="noStrike" cap="none" dirty="0" err="1"/>
                        <a:t>Ber</a:t>
                      </a:r>
                      <a:r>
                        <a:rPr lang="en-US" sz="2000" dirty="0" err="1"/>
                        <a:t>k</a:t>
                      </a:r>
                      <a:r>
                        <a:rPr lang="en-US" sz="2000" b="0" u="none" strike="noStrike" cap="none" dirty="0" err="1"/>
                        <a:t>ayak</a:t>
                      </a:r>
                      <a:r>
                        <a:rPr lang="en-US" sz="2000" b="0" u="none" strike="noStrike" cap="none" dirty="0"/>
                        <a:t> </a:t>
                      </a:r>
                      <a:r>
                        <a:rPr lang="en-US" sz="2000" b="0" u="none" strike="noStrike" cap="none" dirty="0" err="1"/>
                        <a:t>ke</a:t>
                      </a:r>
                      <a:r>
                        <a:rPr lang="en-US" sz="2000" b="0" u="none" strike="noStrike" cap="none" dirty="0"/>
                        <a:t> Kampung Sirih</a:t>
                      </a:r>
                      <a:endParaRPr dirty="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/>
                        <a:t>Ship (kayak) + Walking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/>
                        <a:t>Coastal &amp; village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/>
                        <a:t>Sentence completion &amp; meaning in context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 dirty="0"/>
                        <a:t>Apply vocabulary in story setting</a:t>
                      </a:r>
                      <a:endParaRPr dirty="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2282D1-DEDD-01A2-94B9-C00FB5991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EE0641F-6985-2DAF-0860-DC4853AA7973}"/>
              </a:ext>
            </a:extLst>
          </p:cNvPr>
          <p:cNvSpPr txBox="1"/>
          <p:nvPr/>
        </p:nvSpPr>
        <p:spPr>
          <a:xfrm>
            <a:off x="109860" y="1860233"/>
            <a:ext cx="2848131" cy="286232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SG" b="1" u="sng" dirty="0"/>
              <a:t>Client feedback</a:t>
            </a:r>
          </a:p>
          <a:p>
            <a:r>
              <a:rPr lang="en-SG" dirty="0"/>
              <a:t>To ensure font size for all levels are the same</a:t>
            </a:r>
          </a:p>
          <a:p>
            <a:endParaRPr lang="en-SG" dirty="0"/>
          </a:p>
          <a:p>
            <a:r>
              <a:rPr lang="en-SG" b="1" u="sng" dirty="0">
                <a:solidFill>
                  <a:srgbClr val="0070C0"/>
                </a:solidFill>
              </a:rPr>
              <a:t>Reply</a:t>
            </a:r>
          </a:p>
          <a:p>
            <a:r>
              <a:rPr lang="en-SG" dirty="0"/>
              <a:t>Artist to note.</a:t>
            </a:r>
          </a:p>
          <a:p>
            <a:endParaRPr lang="en-SG" dirty="0"/>
          </a:p>
          <a:p>
            <a:r>
              <a:rPr lang="en-SG" b="1" u="sng" dirty="0">
                <a:solidFill>
                  <a:srgbClr val="FF0000"/>
                </a:solidFill>
              </a:rPr>
              <a:t>Programming to note</a:t>
            </a:r>
          </a:p>
          <a:p>
            <a:r>
              <a:rPr lang="en-SG" dirty="0"/>
              <a:t>All text should be editable by client during UAT</a:t>
            </a:r>
          </a:p>
        </p:txBody>
      </p:sp>
      <p:pic>
        <p:nvPicPr>
          <p:cNvPr id="5" name="Picture 4" descr="A cartoon character holding a wrist watch&#10;&#10;AI-generated content may be incorrect.">
            <a:extLst>
              <a:ext uri="{FF2B5EF4-FFF2-40B4-BE49-F238E27FC236}">
                <a16:creationId xmlns:a16="http://schemas.microsoft.com/office/drawing/2014/main" id="{A21AB16B-85FA-5E7A-EDC5-EEB80F0115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7289" y="1310681"/>
            <a:ext cx="8057758" cy="4597445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6934428-FB1D-35C0-17AE-A73900EEBA2C}"/>
              </a:ext>
            </a:extLst>
          </p:cNvPr>
          <p:cNvSpPr txBox="1">
            <a:spLocks/>
          </p:cNvSpPr>
          <p:nvPr/>
        </p:nvSpPr>
        <p:spPr>
          <a:xfrm>
            <a:off x="838200" y="-14882"/>
            <a:ext cx="10515600" cy="1325563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dirty="0"/>
              <a:t>Splash</a:t>
            </a:r>
          </a:p>
        </p:txBody>
      </p:sp>
    </p:spTree>
    <p:extLst>
      <p:ext uri="{BB962C8B-B14F-4D97-AF65-F5344CB8AC3E}">
        <p14:creationId xmlns:p14="http://schemas.microsoft.com/office/powerpoint/2010/main" val="20464642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"/>
          <p:cNvSpPr txBox="1"/>
          <p:nvPr/>
        </p:nvSpPr>
        <p:spPr>
          <a:xfrm>
            <a:off x="258032" y="-289450"/>
            <a:ext cx="9748837" cy="1807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 sz="400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Play"/>
                <a:cs typeface="Arial" panose="020B0604020202020204" pitchFamily="34" charset="0"/>
                <a:sym typeface="Play"/>
              </a:rPr>
              <a:t>Level 1 – Bas </a:t>
            </a:r>
            <a:r>
              <a:rPr lang="en-US" sz="4000" u="none" strike="noStrike" cap="none" dirty="0" err="1">
                <a:solidFill>
                  <a:schemeClr val="dk1"/>
                </a:solidFill>
                <a:latin typeface="Arial" panose="020B0604020202020204" pitchFamily="34" charset="0"/>
                <a:ea typeface="Play"/>
                <a:cs typeface="Arial" panose="020B0604020202020204" pitchFamily="34" charset="0"/>
                <a:sym typeface="Play"/>
              </a:rPr>
              <a:t>Bertolak</a:t>
            </a:r>
            <a:r>
              <a:rPr lang="en-US" sz="400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Play"/>
                <a:cs typeface="Arial" panose="020B0604020202020204" pitchFamily="34" charset="0"/>
                <a:sym typeface="Play"/>
              </a:rPr>
              <a:t>!</a:t>
            </a:r>
            <a:endParaRPr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0" name="Google Shape;120;p5"/>
          <p:cNvSpPr txBox="1"/>
          <p:nvPr/>
        </p:nvSpPr>
        <p:spPr>
          <a:xfrm>
            <a:off x="244177" y="1062405"/>
            <a:ext cx="11933968" cy="3843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 to Play</a:t>
            </a:r>
            <a:endParaRPr dirty="0"/>
          </a:p>
          <a:p>
            <a:pPr marL="285750" marR="0" lvl="0" indent="-28575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Help Umar complete his bus journey by forming the correct Malay word that matches the picture or meaning shown on the screen.</a:t>
            </a:r>
            <a:endParaRPr dirty="0"/>
          </a:p>
          <a:p>
            <a:pPr marL="285750" marR="0" lvl="0" indent="-28575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Gameplay:</a:t>
            </a:r>
            <a:endParaRPr dirty="0"/>
          </a:p>
          <a:p>
            <a:pPr marL="742950" marR="0" lvl="1" indent="-28575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bus moves across the city road, and each stop shows </a:t>
            </a:r>
            <a:r>
              <a:rPr lang="en-US" sz="1800" b="0" i="0" u="sng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picture </a:t>
            </a:r>
            <a:r>
              <a:rPr lang="en-US" sz="18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sng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short meaning 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 a clue. (programming to randomize). </a:t>
            </a:r>
            <a:r>
              <a:rPr lang="en-US" sz="1800" b="0" i="0" u="none" strike="noStrike" cap="none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Refer to Unit 2 Game </a:t>
            </a:r>
            <a:r>
              <a:rPr lang="en-US" sz="1800" b="0" i="0" u="none" strike="noStrike" cap="none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Content_w</a:t>
            </a:r>
            <a:r>
              <a:rPr lang="en-US" sz="1800" b="0" i="0" u="none" strike="noStrike" cap="none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MOE inputs for the level 1 game content.</a:t>
            </a:r>
            <a:endParaRPr dirty="0">
              <a:solidFill>
                <a:srgbClr val="0070C0"/>
              </a:solidFill>
            </a:endParaRPr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Below the screen, several scrambled alphabet tiles appear.</a:t>
            </a:r>
            <a:endParaRPr dirty="0"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Drag and arrange the letters in the correct order to spell the right Malay word.</a:t>
            </a:r>
            <a:endParaRPr dirty="0"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Tap “✓” or press Enter to confirm your answer.</a:t>
            </a:r>
            <a:endParaRPr dirty="0"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Avoid guessing randomly — each wrong attempt will delay the bus departure.</a:t>
            </a:r>
            <a:endParaRPr dirty="0"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Each correct word helps the bus gain speed and move closer to the train station (next level).</a:t>
            </a:r>
            <a:endParaRPr sz="18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190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endParaRPr sz="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Round setup</a:t>
            </a:r>
            <a:endParaRPr dirty="0"/>
          </a:p>
          <a:p>
            <a:pPr marL="742950" marR="0" lvl="1" indent="-28575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Player to complete 10-word puzzles. </a:t>
            </a:r>
            <a:endParaRPr dirty="0"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10 Unit 2 words will appear randomly, paired with their matching picture or meaning.</a:t>
            </a:r>
            <a:endParaRPr dirty="0"/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5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1905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endParaRPr sz="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Scoring</a:t>
            </a:r>
            <a:endParaRPr dirty="0"/>
          </a:p>
          <a:p>
            <a:pPr marL="285750" marR="0" lvl="0" indent="-28575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+10 per correct answer, +5 speed bonus (complete within 5 sec). Wrong answer, -5. Highest score = 150.</a:t>
            </a: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7E9D96-EAE9-0397-3F3F-424C3B5613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10A5AD77-9A99-DD2F-9F01-F831276A61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8893" y="1700566"/>
            <a:ext cx="7223685" cy="40872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22BC67B-8502-E5DA-D334-D46FCC5B48ED}"/>
              </a:ext>
            </a:extLst>
          </p:cNvPr>
          <p:cNvSpPr txBox="1"/>
          <p:nvPr/>
        </p:nvSpPr>
        <p:spPr>
          <a:xfrm>
            <a:off x="192586" y="1520625"/>
            <a:ext cx="4235979" cy="4524315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n-SG" b="1" u="sng" dirty="0"/>
              <a:t>Client feedback</a:t>
            </a:r>
            <a:endParaRPr lang="en-SG" dirty="0">
              <a:effectLst/>
              <a:latin typeface="Helvetica" pitchFamily="2" charset="0"/>
            </a:endParaRPr>
          </a:p>
          <a:p>
            <a:pPr>
              <a:buNone/>
            </a:pPr>
            <a:r>
              <a:rPr lang="en-SG" dirty="0">
                <a:effectLst/>
                <a:latin typeface="Helvetica" pitchFamily="2" charset="0"/>
              </a:rPr>
              <a:t>For this level, how many rounds does the players have before the right answer is revealed?</a:t>
            </a:r>
          </a:p>
          <a:p>
            <a:pPr>
              <a:buNone/>
            </a:pPr>
            <a:endParaRPr lang="en-SG" dirty="0">
              <a:latin typeface="Helvetica" pitchFamily="2" charset="0"/>
            </a:endParaRPr>
          </a:p>
          <a:p>
            <a:pPr>
              <a:buNone/>
            </a:pPr>
            <a:r>
              <a:rPr lang="en-SG" b="1" u="sng" dirty="0">
                <a:solidFill>
                  <a:srgbClr val="FF0000"/>
                </a:solidFill>
                <a:latin typeface="Helvetica" pitchFamily="2" charset="0"/>
              </a:rPr>
              <a:t>Game logic requested by Azimah, programmer to note</a:t>
            </a:r>
            <a:endParaRPr lang="en-SG" b="1" u="sng" dirty="0">
              <a:solidFill>
                <a:srgbClr val="FF0000"/>
              </a:solidFill>
              <a:effectLst/>
              <a:latin typeface="Helvetica" pitchFamily="2" charset="0"/>
            </a:endParaRPr>
          </a:p>
          <a:p>
            <a:pPr>
              <a:buNone/>
            </a:pPr>
            <a:endParaRPr lang="en-SG" dirty="0">
              <a:latin typeface="Helvetica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dirty="0"/>
              <a:t>Allow for 3 tries.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dirty="0"/>
              <a:t>Once player placed all words, they click on the check button.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dirty="0"/>
              <a:t>If wrong, they can try again up to 3 times in total.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dirty="0">
                <a:solidFill>
                  <a:srgbClr val="FF0000"/>
                </a:solidFill>
              </a:rPr>
              <a:t>The letter(s) placed correctly will remain in the placeholder.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dirty="0"/>
              <a:t>If 3rd try still wrong, their turn ends.</a:t>
            </a:r>
            <a:endParaRPr lang="en-SG" dirty="0">
              <a:effectLst/>
              <a:latin typeface="Helvetica" pitchFamily="2" charset="0"/>
            </a:endParaRPr>
          </a:p>
        </p:txBody>
      </p:sp>
      <p:sp>
        <p:nvSpPr>
          <p:cNvPr id="8" name="Google Shape;119;p5">
            <a:extLst>
              <a:ext uri="{FF2B5EF4-FFF2-40B4-BE49-F238E27FC236}">
                <a16:creationId xmlns:a16="http://schemas.microsoft.com/office/drawing/2014/main" id="{70861D52-DD72-3061-9F8F-C5E908E52B43}"/>
              </a:ext>
            </a:extLst>
          </p:cNvPr>
          <p:cNvSpPr txBox="1"/>
          <p:nvPr/>
        </p:nvSpPr>
        <p:spPr>
          <a:xfrm>
            <a:off x="258032" y="-289450"/>
            <a:ext cx="9748837" cy="1807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 sz="400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Play"/>
                <a:cs typeface="Arial" panose="020B0604020202020204" pitchFamily="34" charset="0"/>
                <a:sym typeface="Play"/>
              </a:rPr>
              <a:t>Level 1 – Bas </a:t>
            </a:r>
            <a:r>
              <a:rPr lang="en-US" sz="4000" u="none" strike="noStrike" cap="none" dirty="0" err="1">
                <a:solidFill>
                  <a:schemeClr val="dk1"/>
                </a:solidFill>
                <a:latin typeface="Arial" panose="020B0604020202020204" pitchFamily="34" charset="0"/>
                <a:ea typeface="Play"/>
                <a:cs typeface="Arial" panose="020B0604020202020204" pitchFamily="34" charset="0"/>
                <a:sym typeface="Play"/>
              </a:rPr>
              <a:t>Bertolak</a:t>
            </a:r>
            <a:r>
              <a:rPr lang="en-US" sz="400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Play"/>
                <a:cs typeface="Arial" panose="020B0604020202020204" pitchFamily="34" charset="0"/>
                <a:sym typeface="Play"/>
              </a:rPr>
              <a:t>!</a:t>
            </a:r>
            <a:endParaRPr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15225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7"/>
          <p:cNvSpPr txBox="1"/>
          <p:nvPr/>
        </p:nvSpPr>
        <p:spPr>
          <a:xfrm>
            <a:off x="258032" y="-289450"/>
            <a:ext cx="9748837" cy="1807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 sz="4000" dirty="0">
                <a:solidFill>
                  <a:schemeClr val="dk1"/>
                </a:solidFill>
                <a:latin typeface="Arial" panose="020B0604020202020204" pitchFamily="34" charset="0"/>
                <a:ea typeface="Play"/>
                <a:cs typeface="Arial" panose="020B0604020202020204" pitchFamily="34" charset="0"/>
                <a:sym typeface="Play"/>
              </a:rPr>
              <a:t>Level 2 – Kuasa </a:t>
            </a:r>
            <a:r>
              <a:rPr lang="en-US" sz="4000" dirty="0" err="1">
                <a:solidFill>
                  <a:schemeClr val="dk1"/>
                </a:solidFill>
                <a:latin typeface="Arial" panose="020B0604020202020204" pitchFamily="34" charset="0"/>
                <a:ea typeface="Play"/>
                <a:cs typeface="Arial" panose="020B0604020202020204" pitchFamily="34" charset="0"/>
                <a:sym typeface="Play"/>
              </a:rPr>
              <a:t>Keretapi</a:t>
            </a:r>
            <a:endParaRPr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6" name="Google Shape;136;p7"/>
          <p:cNvSpPr txBox="1"/>
          <p:nvPr/>
        </p:nvSpPr>
        <p:spPr>
          <a:xfrm>
            <a:off x="244177" y="1062405"/>
            <a:ext cx="11933968" cy="3843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Story Context</a:t>
            </a:r>
            <a:endParaRPr dirty="0"/>
          </a:p>
          <a:p>
            <a:pPr marL="285750" marR="0" lvl="0" indent="-28575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After completing the bus journey, Umar reaches the train interchange station. The trains are moving in opposite directions — one heading toward the coast, and the other returning inland.</a:t>
            </a:r>
            <a:endParaRPr dirty="0"/>
          </a:p>
          <a:p>
            <a:pPr marL="285750" marR="0" lvl="0" indent="-28575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keep the trains on track, Umar must correctly identify Malay words that match each meaning or sentence clue shown at the top of the screen. </a:t>
            </a:r>
            <a:endParaRPr sz="16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 to Play</a:t>
            </a:r>
            <a:endParaRPr dirty="0"/>
          </a:p>
          <a:p>
            <a:pPr marL="285750" indent="-285750">
              <a:lnSpc>
                <a:spcPct val="90000"/>
              </a:lnSpc>
              <a:spcBef>
                <a:spcPts val="600"/>
              </a:spcBef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Help Umar power the trains by clicking the correct Malay word that matches the </a:t>
            </a:r>
            <a:r>
              <a:rPr lang="en-US" sz="1600" u="sng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meaning</a:t>
            </a:r>
            <a:r>
              <a:rPr lang="en-US" sz="16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</a:t>
            </a:r>
            <a:r>
              <a:rPr lang="en-US" sz="16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u="sng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sentence clue </a:t>
            </a:r>
            <a:r>
              <a:rPr lang="en-US" sz="16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shown on the screen (programming to randomize using meaning or sentence clue). </a:t>
            </a:r>
            <a:r>
              <a:rPr lang="en-US" sz="1600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Refer to Unit 2 Game </a:t>
            </a:r>
            <a:r>
              <a:rPr lang="en-US" sz="1600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Content_w</a:t>
            </a:r>
            <a:r>
              <a:rPr lang="en-US" sz="1600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MOE inputs for the level 2 game content.</a:t>
            </a:r>
            <a:endParaRPr sz="1600" dirty="0"/>
          </a:p>
          <a:p>
            <a:pPr marL="285750" marR="0" lvl="0" indent="-28575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Gameplay:</a:t>
            </a:r>
            <a:endParaRPr dirty="0"/>
          </a:p>
          <a:p>
            <a:pPr marL="742950" marR="0" lvl="1" indent="-28575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HUD at the top displays either a short meaning or a sentence cue (e.g., “Terbang 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lalu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berhenti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di 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suatu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tempat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”).</a:t>
            </a:r>
            <a:endParaRPr dirty="0"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Two trains move across the screen on parallel tracks — one left to right, one right to left.</a:t>
            </a:r>
            <a:endParaRPr dirty="0"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Each train compartment displays a Malay word card.</a:t>
            </a:r>
            <a:endParaRPr dirty="0"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Player must click the correct word before the train passes off-screen.</a:t>
            </a:r>
            <a:endParaRPr dirty="0"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Early rounds start with one train only, moving at slow speed.</a:t>
            </a:r>
            <a:endParaRPr dirty="0"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Later rounds introduce a second train in the opposite direction and increasing speed, testing attention and vocabulary mastery.</a:t>
            </a:r>
            <a:endParaRPr sz="1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Round setup</a:t>
            </a:r>
            <a:endParaRPr dirty="0"/>
          </a:p>
          <a:p>
            <a:pPr marL="742950" marR="0" lvl="1" indent="-28575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Player to complete 10 rounds total.</a:t>
            </a:r>
            <a:endParaRPr dirty="0"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Each round randomly displays one meaning or sentence clue.  Distractor words will appear too.</a:t>
            </a:r>
            <a:endParaRPr dirty="0"/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Scoring</a:t>
            </a:r>
            <a:endParaRPr dirty="0"/>
          </a:p>
          <a:p>
            <a:pPr marL="285750" marR="0" lvl="0" indent="-28575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+10 per correct answer. Wrong answer, -5. Highest score = 100.</a:t>
            </a:r>
            <a:endParaRPr sz="16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C37D2BA0-3E02-6DF6-FEB4-B61F4BDE01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1196" y="894084"/>
            <a:ext cx="8178915" cy="462608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8AC9364-E524-9A92-4F40-1FC6150FCE91}"/>
              </a:ext>
            </a:extLst>
          </p:cNvPr>
          <p:cNvSpPr txBox="1"/>
          <p:nvPr/>
        </p:nvSpPr>
        <p:spPr>
          <a:xfrm>
            <a:off x="10140" y="2731159"/>
            <a:ext cx="3414185" cy="286232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SG" b="1" u="sng" dirty="0"/>
              <a:t>Client feedback</a:t>
            </a:r>
            <a:endParaRPr lang="en-SG" dirty="0">
              <a:effectLst/>
              <a:latin typeface="Helvetica" pitchFamily="2" charset="0"/>
            </a:endParaRPr>
          </a:p>
          <a:p>
            <a:r>
              <a:rPr lang="en-SG" dirty="0"/>
              <a:t>The meaning of the word should use sentence cap – meaning first alphabet on sentence is CAP, cannot cap the whole sentence.</a:t>
            </a:r>
          </a:p>
          <a:p>
            <a:endParaRPr lang="en-SG" dirty="0"/>
          </a:p>
          <a:p>
            <a:r>
              <a:rPr lang="en-SG" b="1" u="sng" dirty="0">
                <a:solidFill>
                  <a:srgbClr val="0070C0"/>
                </a:solidFill>
              </a:rPr>
              <a:t>Reply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dirty="0"/>
              <a:t>Will update accordingly.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dirty="0"/>
              <a:t>Artist and programmer to note.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E7AFEA0-E090-866A-1C0D-531A19797152}"/>
              </a:ext>
            </a:extLst>
          </p:cNvPr>
          <p:cNvCxnSpPr/>
          <p:nvPr/>
        </p:nvCxnSpPr>
        <p:spPr>
          <a:xfrm flipV="1">
            <a:off x="3424325" y="2289772"/>
            <a:ext cx="2152669" cy="5883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44FCC6BB-94BF-1740-B863-3BCF04025875}"/>
              </a:ext>
            </a:extLst>
          </p:cNvPr>
          <p:cNvSpPr txBox="1"/>
          <p:nvPr/>
        </p:nvSpPr>
        <p:spPr>
          <a:xfrm>
            <a:off x="3877031" y="4475347"/>
            <a:ext cx="4515862" cy="230832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SG" b="1" u="sng" dirty="0"/>
              <a:t>Client feedback</a:t>
            </a:r>
            <a:endParaRPr lang="en-SG" dirty="0">
              <a:effectLst/>
              <a:latin typeface="Helvetica" pitchFamily="2" charset="0"/>
            </a:endParaRPr>
          </a:p>
          <a:p>
            <a:pPr>
              <a:buNone/>
            </a:pPr>
            <a:r>
              <a:rPr lang="en-SG" dirty="0">
                <a:effectLst/>
                <a:latin typeface="Helvetica" pitchFamily="2" charset="0"/>
              </a:rPr>
              <a:t>During the game, the speed of the train can have variation. At the start slow but it gets faster as the students get more answers correct. </a:t>
            </a:r>
          </a:p>
          <a:p>
            <a:r>
              <a:rPr lang="en-SG" b="1" u="sng" dirty="0">
                <a:solidFill>
                  <a:srgbClr val="0070C0"/>
                </a:solidFill>
              </a:rPr>
              <a:t>Reply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dirty="0"/>
              <a:t>Yes, this is how we are programming it.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dirty="0"/>
              <a:t>Programmer to note.</a:t>
            </a:r>
          </a:p>
        </p:txBody>
      </p:sp>
      <p:sp>
        <p:nvSpPr>
          <p:cNvPr id="9" name="Google Shape;135;p7">
            <a:extLst>
              <a:ext uri="{FF2B5EF4-FFF2-40B4-BE49-F238E27FC236}">
                <a16:creationId xmlns:a16="http://schemas.microsoft.com/office/drawing/2014/main" id="{F9400B22-2C1C-B032-C33A-4B026DD24B52}"/>
              </a:ext>
            </a:extLst>
          </p:cNvPr>
          <p:cNvSpPr txBox="1"/>
          <p:nvPr/>
        </p:nvSpPr>
        <p:spPr>
          <a:xfrm>
            <a:off x="258032" y="-289450"/>
            <a:ext cx="9748837" cy="1807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 sz="4000" dirty="0">
                <a:solidFill>
                  <a:schemeClr val="dk1"/>
                </a:solidFill>
                <a:latin typeface="Arial" panose="020B0604020202020204" pitchFamily="34" charset="0"/>
                <a:ea typeface="Play"/>
                <a:cs typeface="Arial" panose="020B0604020202020204" pitchFamily="34" charset="0"/>
                <a:sym typeface="Play"/>
              </a:rPr>
              <a:t>Level 2 – Kuasa </a:t>
            </a:r>
            <a:r>
              <a:rPr lang="en-US" sz="4000" dirty="0" err="1">
                <a:solidFill>
                  <a:schemeClr val="dk1"/>
                </a:solidFill>
                <a:latin typeface="Arial" panose="020B0604020202020204" pitchFamily="34" charset="0"/>
                <a:ea typeface="Play"/>
                <a:cs typeface="Arial" panose="020B0604020202020204" pitchFamily="34" charset="0"/>
                <a:sym typeface="Play"/>
              </a:rPr>
              <a:t>Keretapi</a:t>
            </a:r>
            <a:endParaRPr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753132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9"/>
          <p:cNvSpPr txBox="1"/>
          <p:nvPr/>
        </p:nvSpPr>
        <p:spPr>
          <a:xfrm>
            <a:off x="258032" y="-289450"/>
            <a:ext cx="9748837" cy="1807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 sz="4000" dirty="0">
                <a:solidFill>
                  <a:schemeClr val="dk1"/>
                </a:solidFill>
                <a:latin typeface="Calibri" panose="020F0502020204030204" pitchFamily="34" charset="0"/>
                <a:ea typeface="Play"/>
                <a:cs typeface="Calibri" panose="020F0502020204030204" pitchFamily="34" charset="0"/>
                <a:sym typeface="Play"/>
              </a:rPr>
              <a:t>Level 3 – </a:t>
            </a:r>
            <a:r>
              <a:rPr lang="en-US" sz="4000" dirty="0" err="1">
                <a:solidFill>
                  <a:schemeClr val="dk1"/>
                </a:solidFill>
                <a:latin typeface="Calibri" panose="020F0502020204030204" pitchFamily="34" charset="0"/>
                <a:ea typeface="Play"/>
                <a:cs typeface="Calibri" panose="020F0502020204030204" pitchFamily="34" charset="0"/>
                <a:sym typeface="Play"/>
              </a:rPr>
              <a:t>Berkayak</a:t>
            </a:r>
            <a:r>
              <a:rPr lang="en-US" sz="4000" dirty="0">
                <a:solidFill>
                  <a:schemeClr val="dk1"/>
                </a:solidFill>
                <a:latin typeface="Calibri" panose="020F0502020204030204" pitchFamily="34" charset="0"/>
                <a:ea typeface="Play"/>
                <a:cs typeface="Calibri" panose="020F0502020204030204" pitchFamily="34" charset="0"/>
                <a:sym typeface="Play"/>
              </a:rPr>
              <a:t> </a:t>
            </a:r>
            <a:r>
              <a:rPr lang="en-US" sz="4000" dirty="0" err="1">
                <a:solidFill>
                  <a:schemeClr val="dk1"/>
                </a:solidFill>
                <a:latin typeface="Calibri" panose="020F0502020204030204" pitchFamily="34" charset="0"/>
                <a:ea typeface="Play"/>
                <a:cs typeface="Calibri" panose="020F0502020204030204" pitchFamily="34" charset="0"/>
                <a:sym typeface="Play"/>
              </a:rPr>
              <a:t>ke</a:t>
            </a:r>
            <a:r>
              <a:rPr lang="en-US" sz="4000" dirty="0">
                <a:solidFill>
                  <a:schemeClr val="dk1"/>
                </a:solidFill>
                <a:latin typeface="Calibri" panose="020F0502020204030204" pitchFamily="34" charset="0"/>
                <a:ea typeface="Play"/>
                <a:cs typeface="Calibri" panose="020F0502020204030204" pitchFamily="34" charset="0"/>
                <a:sym typeface="Play"/>
              </a:rPr>
              <a:t> Kampung Sirih</a:t>
            </a:r>
            <a:endParaRPr sz="4000" dirty="0">
              <a:solidFill>
                <a:schemeClr val="dk1"/>
              </a:solidFill>
              <a:latin typeface="Calibri" panose="020F0502020204030204" pitchFamily="34" charset="0"/>
              <a:ea typeface="Play"/>
              <a:cs typeface="Calibri" panose="020F0502020204030204" pitchFamily="34" charset="0"/>
              <a:sym typeface="Play"/>
            </a:endParaRPr>
          </a:p>
        </p:txBody>
      </p:sp>
      <p:sp>
        <p:nvSpPr>
          <p:cNvPr id="152" name="Google Shape;152;p9"/>
          <p:cNvSpPr txBox="1"/>
          <p:nvPr/>
        </p:nvSpPr>
        <p:spPr>
          <a:xfrm>
            <a:off x="244177" y="1062405"/>
            <a:ext cx="11933968" cy="3843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Story Context</a:t>
            </a:r>
            <a:endParaRPr/>
          </a:p>
          <a:p>
            <a:pPr marL="285750" marR="0" lvl="0" indent="-28575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After fixing the train system, Umar finally reaches the </a:t>
            </a:r>
            <a:r>
              <a:rPr lang="en-US" sz="1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coastline</a:t>
            </a: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marL="285750" marR="0" lvl="0" indent="-28575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get to </a:t>
            </a:r>
            <a:r>
              <a:rPr lang="en-US" sz="160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Kampung Sirih</a:t>
            </a: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he must </a:t>
            </a:r>
            <a:r>
              <a:rPr lang="en-US" sz="1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paddle a kayak across the river</a:t>
            </a: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while answering questions that help Tanggang seek forgiveness from his mother.</a:t>
            </a:r>
            <a:endParaRPr/>
          </a:p>
          <a:p>
            <a:pPr marL="285750" marR="0" lvl="0" indent="-28575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Each correct answer pushes the kayak forward; wrong answers make it drift back slightly.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 to Play</a:t>
            </a:r>
            <a:endParaRPr/>
          </a:p>
          <a:p>
            <a:pPr marL="285750" marR="0" lvl="0" indent="-28575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Help Umar paddle the kayak safely to the village by </a:t>
            </a:r>
            <a:r>
              <a:rPr lang="en-US" sz="1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dragging the correct word</a:t>
            </a: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into the blank space in each sentence.</a:t>
            </a:r>
            <a:endParaRPr/>
          </a:p>
          <a:p>
            <a:pPr marL="285750" marR="0" lvl="0" indent="-28575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Gameplay:</a:t>
            </a:r>
            <a:endParaRPr/>
          </a:p>
          <a:p>
            <a:pPr marL="742950" marR="0" lvl="1" indent="-28575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lang="en-US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HUD at the top</a:t>
            </a: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shows a short </a:t>
            </a:r>
            <a:r>
              <a:rPr lang="en-US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sentence with one missing word</a:t>
            </a: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(e.g. “Ibu Tanggang ______ haiwan-haiwan yang mematuk Tanggang.”).</a:t>
            </a:r>
            <a:endParaRPr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Below, 3–4 </a:t>
            </a:r>
            <a:r>
              <a:rPr lang="en-US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word tiles</a:t>
            </a: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appear (e.g. </a:t>
            </a:r>
            <a:r>
              <a:rPr lang="en-US" sz="16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menghalau</a:t>
            </a: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6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menyesal</a:t>
            </a: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6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terbeliak</a:t>
            </a: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6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terpinga-pinga</a:t>
            </a: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).</a:t>
            </a:r>
            <a:endParaRPr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Player </a:t>
            </a:r>
            <a:r>
              <a:rPr lang="en-US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drags and drops</a:t>
            </a: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the correct Malay word into the blank.</a:t>
            </a:r>
            <a:endParaRPr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Each correct drop moves the kayak forward across the water toward the village jetty.</a:t>
            </a:r>
            <a:endParaRPr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Wrong answers cause a light ripple animation and slight backward drift.</a:t>
            </a:r>
            <a:endParaRPr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game ends when the kayak reaches the wooden jetty at </a:t>
            </a:r>
            <a:r>
              <a:rPr lang="en-US" sz="16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Kampung Sirih</a:t>
            </a: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/>
          </a:p>
          <a:p>
            <a:pPr marL="0" marR="0" lvl="0" indent="-101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Round setup</a:t>
            </a:r>
            <a:endParaRPr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Player to complete 10 rounds total.</a:t>
            </a:r>
            <a:endParaRPr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Each round randomly displays one meaning or sentence clue.  Distractor words will appear too.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Scoring</a:t>
            </a:r>
            <a:endParaRPr/>
          </a:p>
          <a:p>
            <a:pPr marL="285750" marR="0" lvl="0" indent="-28575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+10 per correct answer. Wrong answer, -5. Highest score = 100.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61B73E-F409-3964-9B83-3DE32248F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FEB68DC-E58E-6E21-C7CE-C0B19CC37CB0}"/>
              </a:ext>
            </a:extLst>
          </p:cNvPr>
          <p:cNvSpPr txBox="1"/>
          <p:nvPr/>
        </p:nvSpPr>
        <p:spPr>
          <a:xfrm>
            <a:off x="10140" y="2731159"/>
            <a:ext cx="3414185" cy="286232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SG" b="1" u="sng" dirty="0"/>
              <a:t>Client feedback</a:t>
            </a:r>
            <a:endParaRPr lang="en-SG" dirty="0">
              <a:effectLst/>
              <a:latin typeface="Helvetica" pitchFamily="2" charset="0"/>
            </a:endParaRPr>
          </a:p>
          <a:p>
            <a:r>
              <a:rPr lang="en-SG" dirty="0"/>
              <a:t>For the game, I guess the boat will shift nearer to the “dock” as the right answers are provided? Correct?</a:t>
            </a:r>
          </a:p>
          <a:p>
            <a:endParaRPr lang="en-SG" dirty="0"/>
          </a:p>
          <a:p>
            <a:r>
              <a:rPr lang="en-SG" b="1" u="sng" dirty="0">
                <a:solidFill>
                  <a:srgbClr val="0070C0"/>
                </a:solidFill>
              </a:rPr>
              <a:t>Reply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dirty="0"/>
              <a:t>Yes, this is how we are programming it.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dirty="0"/>
              <a:t>Programmer to note.</a:t>
            </a:r>
          </a:p>
        </p:txBody>
      </p:sp>
      <p:pic>
        <p:nvPicPr>
          <p:cNvPr id="12" name="Picture 11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B623690D-BA1B-98D4-95A4-3D679F40D3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1046" y="1387627"/>
            <a:ext cx="8510813" cy="4821826"/>
          </a:xfrm>
          <a:prstGeom prst="rect">
            <a:avLst/>
          </a:prstGeom>
        </p:spPr>
      </p:pic>
      <p:sp>
        <p:nvSpPr>
          <p:cNvPr id="13" name="Google Shape;151;p9">
            <a:extLst>
              <a:ext uri="{FF2B5EF4-FFF2-40B4-BE49-F238E27FC236}">
                <a16:creationId xmlns:a16="http://schemas.microsoft.com/office/drawing/2014/main" id="{F1DA7E1F-996D-84E5-8BEC-50022A3933B3}"/>
              </a:ext>
            </a:extLst>
          </p:cNvPr>
          <p:cNvSpPr txBox="1"/>
          <p:nvPr/>
        </p:nvSpPr>
        <p:spPr>
          <a:xfrm>
            <a:off x="258032" y="-289450"/>
            <a:ext cx="9748837" cy="1807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 sz="4000" dirty="0">
                <a:solidFill>
                  <a:schemeClr val="dk1"/>
                </a:solidFill>
                <a:latin typeface="Calibri" panose="020F0502020204030204" pitchFamily="34" charset="0"/>
                <a:ea typeface="Play"/>
                <a:cs typeface="Calibri" panose="020F0502020204030204" pitchFamily="34" charset="0"/>
                <a:sym typeface="Play"/>
              </a:rPr>
              <a:t>Level 3 – </a:t>
            </a:r>
            <a:r>
              <a:rPr lang="en-US" sz="4000" dirty="0" err="1">
                <a:solidFill>
                  <a:schemeClr val="dk1"/>
                </a:solidFill>
                <a:latin typeface="Calibri" panose="020F0502020204030204" pitchFamily="34" charset="0"/>
                <a:ea typeface="Play"/>
                <a:cs typeface="Calibri" panose="020F0502020204030204" pitchFamily="34" charset="0"/>
                <a:sym typeface="Play"/>
              </a:rPr>
              <a:t>Berkayak</a:t>
            </a:r>
            <a:r>
              <a:rPr lang="en-US" sz="4000" dirty="0">
                <a:solidFill>
                  <a:schemeClr val="dk1"/>
                </a:solidFill>
                <a:latin typeface="Calibri" panose="020F0502020204030204" pitchFamily="34" charset="0"/>
                <a:ea typeface="Play"/>
                <a:cs typeface="Calibri" panose="020F0502020204030204" pitchFamily="34" charset="0"/>
                <a:sym typeface="Play"/>
              </a:rPr>
              <a:t> </a:t>
            </a:r>
            <a:r>
              <a:rPr lang="en-US" sz="4000" dirty="0" err="1">
                <a:solidFill>
                  <a:schemeClr val="dk1"/>
                </a:solidFill>
                <a:latin typeface="Calibri" panose="020F0502020204030204" pitchFamily="34" charset="0"/>
                <a:ea typeface="Play"/>
                <a:cs typeface="Calibri" panose="020F0502020204030204" pitchFamily="34" charset="0"/>
                <a:sym typeface="Play"/>
              </a:rPr>
              <a:t>ke</a:t>
            </a:r>
            <a:r>
              <a:rPr lang="en-US" sz="4000" dirty="0">
                <a:solidFill>
                  <a:schemeClr val="dk1"/>
                </a:solidFill>
                <a:latin typeface="Calibri" panose="020F0502020204030204" pitchFamily="34" charset="0"/>
                <a:ea typeface="Play"/>
                <a:cs typeface="Calibri" panose="020F0502020204030204" pitchFamily="34" charset="0"/>
                <a:sym typeface="Play"/>
              </a:rPr>
              <a:t> Kampung Sirih</a:t>
            </a:r>
            <a:endParaRPr sz="4000" dirty="0">
              <a:solidFill>
                <a:schemeClr val="dk1"/>
              </a:solidFill>
              <a:latin typeface="Calibri" panose="020F0502020204030204" pitchFamily="34" charset="0"/>
              <a:ea typeface="Play"/>
              <a:cs typeface="Calibri" panose="020F0502020204030204" pitchFamily="34" charset="0"/>
              <a:sym typeface="Play"/>
            </a:endParaRPr>
          </a:p>
        </p:txBody>
      </p:sp>
    </p:spTree>
    <p:extLst>
      <p:ext uri="{BB962C8B-B14F-4D97-AF65-F5344CB8AC3E}">
        <p14:creationId xmlns:p14="http://schemas.microsoft.com/office/powerpoint/2010/main" val="10991702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1109</Words>
  <Application>Microsoft Macintosh PowerPoint</Application>
  <PresentationFormat>Widescreen</PresentationFormat>
  <Paragraphs>125</Paragraphs>
  <Slides>10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Helvetica</vt:lpstr>
      <vt:lpstr>Play</vt:lpstr>
      <vt:lpstr>Office Theme</vt:lpstr>
      <vt:lpstr>Unit 2 Game Specification</vt:lpstr>
      <vt:lpstr>Storyline</vt:lpstr>
      <vt:lpstr>Game Overview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 MAY LENG</dc:creator>
  <cp:lastModifiedBy>HO MAY LENG</cp:lastModifiedBy>
  <cp:revision>15</cp:revision>
  <dcterms:created xsi:type="dcterms:W3CDTF">2025-12-02T04:38:21Z</dcterms:created>
  <dcterms:modified xsi:type="dcterms:W3CDTF">2025-12-18T04:11:28Z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aaa7e78-45b1-4890-b8a3-003d1d728a3e_Enabled">
    <vt:lpwstr>true</vt:lpwstr>
  </property>
  <property fmtid="{D5CDD505-2E9C-101B-9397-08002B2CF9AE}" pid="3" name="MSIP_Label_4aaa7e78-45b1-4890-b8a3-003d1d728a3e_SetDate">
    <vt:lpwstr>2025-12-03T03:10:45Z</vt:lpwstr>
  </property>
  <property fmtid="{D5CDD505-2E9C-101B-9397-08002B2CF9AE}" pid="4" name="MSIP_Label_4aaa7e78-45b1-4890-b8a3-003d1d728a3e_Method">
    <vt:lpwstr>Privileged</vt:lpwstr>
  </property>
  <property fmtid="{D5CDD505-2E9C-101B-9397-08002B2CF9AE}" pid="5" name="MSIP_Label_4aaa7e78-45b1-4890-b8a3-003d1d728a3e_Name">
    <vt:lpwstr>Non Sensitive</vt:lpwstr>
  </property>
  <property fmtid="{D5CDD505-2E9C-101B-9397-08002B2CF9AE}" pid="6" name="MSIP_Label_4aaa7e78-45b1-4890-b8a3-003d1d728a3e_SiteId">
    <vt:lpwstr>0b11c524-9a1c-4e1b-84cb-6336aefc2243</vt:lpwstr>
  </property>
  <property fmtid="{D5CDD505-2E9C-101B-9397-08002B2CF9AE}" pid="7" name="MSIP_Label_4aaa7e78-45b1-4890-b8a3-003d1d728a3e_ActionId">
    <vt:lpwstr>dd1c66c6-c32f-45d3-a8cd-98758ded4323</vt:lpwstr>
  </property>
  <property fmtid="{D5CDD505-2E9C-101B-9397-08002B2CF9AE}" pid="8" name="MSIP_Label_4aaa7e78-45b1-4890-b8a3-003d1d728a3e_ContentBits">
    <vt:lpwstr>0</vt:lpwstr>
  </property>
</Properties>
</file>